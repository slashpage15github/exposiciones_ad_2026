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Raleway" panose="020F0502020204030204" pitchFamily="2" charset="0"/>
      <p:regular r:id="rId19"/>
    </p:embeddedFont>
    <p:embeddedFont>
      <p:font typeface="Roboto" panose="02000000000000000000" pitchFamily="2" charset="0"/>
      <p:regular r:id="rId20"/>
    </p:embeddedFont>
    <p:embeddedFont>
      <p:font typeface="Roboto Bold" panose="020B0604020202020204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1227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s-419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54535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JavaScript y Node.js: Del Cliente al Servidor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401012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Sebastián Contreras Lugo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99625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¿Qué es JavaScript?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1870373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Text 2"/>
          <p:cNvSpPr/>
          <p:nvPr/>
        </p:nvSpPr>
        <p:spPr>
          <a:xfrm>
            <a:off x="1275723" y="1935262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Lenguaje del navegador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275723" y="2343944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Interpretado y multiparadigma, creado originalmente para dar vida a las páginas web en el cliente.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61475" y="3326805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5"/>
          <p:cNvSpPr/>
          <p:nvPr/>
        </p:nvSpPr>
        <p:spPr>
          <a:xfrm>
            <a:off x="1275723" y="3391694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Manipulación del DOM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275723" y="3800376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Actualiza interfaces en tiempo real sin necesidad de recargar la página completa.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783237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" name="Text 8"/>
          <p:cNvSpPr/>
          <p:nvPr/>
        </p:nvSpPr>
        <p:spPr>
          <a:xfrm>
            <a:off x="1275723" y="4848126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Interactividad total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1275723" y="5256808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Gestiona eventos, animaciones y validación de formularios directamente en el navegador del usuario.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4012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Características Estrella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908796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856832" y="3104158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Tipado Dinámico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512840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Variables sin tipos estrictos que agilizan el desarrollo y reducen la fricción al escribir código.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2908796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Text 5"/>
          <p:cNvSpPr/>
          <p:nvPr/>
        </p:nvSpPr>
        <p:spPr>
          <a:xfrm>
            <a:off x="4542716" y="3104158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Funciones de Primera Clase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3512840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funciones se asignan a variables, se pasan como argumentos y se retornan desde otras funciones.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2908796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8228600" y="3104158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Asincronía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3512840"/>
            <a:ext cx="3106164" cy="913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Promesas y </a:t>
            </a: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async/await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permiten operaciones sin bloquear el hilo principal de ejecución.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081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Evolución de JavaScript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61475" y="3796705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4" name="Shape 2"/>
          <p:cNvSpPr/>
          <p:nvPr/>
        </p:nvSpPr>
        <p:spPr>
          <a:xfrm>
            <a:off x="2383770" y="3238550"/>
            <a:ext cx="25399" cy="558205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5" name="Shape 3"/>
          <p:cNvSpPr/>
          <p:nvPr/>
        </p:nvSpPr>
        <p:spPr>
          <a:xfrm>
            <a:off x="2187223" y="3587403"/>
            <a:ext cx="418593" cy="418604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/>
          <p:nvPr/>
        </p:nvSpPr>
        <p:spPr>
          <a:xfrm>
            <a:off x="2256922" y="3622229"/>
            <a:ext cx="27909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847505" y="1470819"/>
            <a:ext cx="309822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1995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7505" y="1871365"/>
            <a:ext cx="3098226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Creación por Brendan Eich en Netscape en solo 10 días. Nació como Mocha, luego pasó a LiveScript y finalmente a JavaScript.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233360" y="3796655"/>
            <a:ext cx="25399" cy="558205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0" name="Shape 8"/>
          <p:cNvSpPr/>
          <p:nvPr/>
        </p:nvSpPr>
        <p:spPr>
          <a:xfrm>
            <a:off x="4036812" y="3587403"/>
            <a:ext cx="418593" cy="418604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" name="Text 9"/>
          <p:cNvSpPr/>
          <p:nvPr/>
        </p:nvSpPr>
        <p:spPr>
          <a:xfrm>
            <a:off x="4106512" y="3622229"/>
            <a:ext cx="27909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2697095" y="4540945"/>
            <a:ext cx="309822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1997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97095" y="4941491"/>
            <a:ext cx="3098226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Estandarización oficial bajo el estándar ECMAScript (ES) por Ecma International.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082949" y="3238550"/>
            <a:ext cx="25399" cy="558205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5" name="Shape 13"/>
          <p:cNvSpPr/>
          <p:nvPr/>
        </p:nvSpPr>
        <p:spPr>
          <a:xfrm>
            <a:off x="5886402" y="3587403"/>
            <a:ext cx="418593" cy="418604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Text 14"/>
          <p:cNvSpPr/>
          <p:nvPr/>
        </p:nvSpPr>
        <p:spPr>
          <a:xfrm>
            <a:off x="5956101" y="3622229"/>
            <a:ext cx="27909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150" dirty="0"/>
          </a:p>
        </p:txBody>
      </p:sp>
      <p:sp>
        <p:nvSpPr>
          <p:cNvPr id="17" name="Text 15"/>
          <p:cNvSpPr/>
          <p:nvPr/>
        </p:nvSpPr>
        <p:spPr>
          <a:xfrm>
            <a:off x="4546685" y="1470819"/>
            <a:ext cx="309822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2009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46685" y="1871365"/>
            <a:ext cx="3098226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Lanzamiento de ES5 con modo estricto, métodos de arreglos y soporte nativo para JSON.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932539" y="3796655"/>
            <a:ext cx="25399" cy="558205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20" name="Shape 18"/>
          <p:cNvSpPr/>
          <p:nvPr/>
        </p:nvSpPr>
        <p:spPr>
          <a:xfrm>
            <a:off x="7735992" y="3587403"/>
            <a:ext cx="418593" cy="418604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Text 19"/>
          <p:cNvSpPr/>
          <p:nvPr/>
        </p:nvSpPr>
        <p:spPr>
          <a:xfrm>
            <a:off x="7805691" y="3622229"/>
            <a:ext cx="27909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150" dirty="0"/>
          </a:p>
        </p:txBody>
      </p:sp>
      <p:sp>
        <p:nvSpPr>
          <p:cNvPr id="22" name="Text 20"/>
          <p:cNvSpPr/>
          <p:nvPr/>
        </p:nvSpPr>
        <p:spPr>
          <a:xfrm>
            <a:off x="6396274" y="4540945"/>
            <a:ext cx="309822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2015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96274" y="4941491"/>
            <a:ext cx="3098226" cy="892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Gran salto con ES6 / ES2015: funciones flecha </a:t>
            </a: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template literals y clases.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9782228" y="3238550"/>
            <a:ext cx="25399" cy="558205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25" name="Shape 23"/>
          <p:cNvSpPr/>
          <p:nvPr/>
        </p:nvSpPr>
        <p:spPr>
          <a:xfrm>
            <a:off x="9585681" y="3587403"/>
            <a:ext cx="418593" cy="418604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6" name="Text 24"/>
          <p:cNvSpPr/>
          <p:nvPr/>
        </p:nvSpPr>
        <p:spPr>
          <a:xfrm>
            <a:off x="9655380" y="3622229"/>
            <a:ext cx="27909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2150" dirty="0"/>
          </a:p>
        </p:txBody>
      </p:sp>
      <p:sp>
        <p:nvSpPr>
          <p:cNvPr id="27" name="Text 25"/>
          <p:cNvSpPr/>
          <p:nvPr/>
        </p:nvSpPr>
        <p:spPr>
          <a:xfrm>
            <a:off x="8245864" y="1470819"/>
            <a:ext cx="309832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Actualidad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245864" y="1871365"/>
            <a:ext cx="309832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Actualizaciones anuales constantes gestionadas por el comité TC39.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61475" y="6039644"/>
            <a:ext cx="114783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un experimento de 10 días a un estándar mundial en evolución continua.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2798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Cómo se conecta JavaScript con el HTML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596654"/>
            <a:ext cx="3496877" cy="26332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68183" y="272514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75881" y="3378101"/>
            <a:ext cx="306806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Etiqueta </a:t>
            </a:r>
            <a:r>
              <a:rPr lang="en-US" sz="18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75881" y="3793133"/>
            <a:ext cx="3068065" cy="1222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HTML usa </a:t>
            </a: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&lt;script&gt;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para cargar y ejecutar JavaScript. Lo ideal es enlazar un archivo externo con </a:t>
            </a: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src="app.js"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2596654"/>
            <a:ext cx="3496877" cy="263326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54067" y="272514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561766" y="3378101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Carga y rendimiento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561766" y="3786783"/>
            <a:ext cx="3068065" cy="919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 final del </a:t>
            </a: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no bloquea la página. En </a:t>
            </a: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usa </a:t>
            </a: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defer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para cargar en segundo plano.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2596654"/>
            <a:ext cx="3496877" cy="263326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39952" y="272514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8247650" y="3378101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El DOM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247650" y="3786783"/>
            <a:ext cx="306806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 el mapa del HTML en memoria. JavaScript lo selecciona, escucha eventos y actualiza la interfaz sin recargar.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802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Ejemplos Prácticos de Manipulación del DOM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536700"/>
            <a:ext cx="3496877" cy="47531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1751112"/>
            <a:ext cx="2966467" cy="898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Selección de Elementos (</a:t>
            </a:r>
            <a:r>
              <a:rPr lang="en-US" sz="18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document.getElementById</a:t>
            </a: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)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2763044"/>
            <a:ext cx="296646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Busca y extrae un nodo específico del árbol del DOM utilizando su identificador único (id), permitiendo que JavaScript tome el control de ese elemento visual exacto.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977479" y="4790182"/>
            <a:ext cx="2966467" cy="1285280"/>
          </a:xfrm>
          <a:prstGeom prst="roundRect">
            <a:avLst>
              <a:gd name="adj" fmla="val 617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7" name="Text 4"/>
          <p:cNvSpPr/>
          <p:nvPr/>
        </p:nvSpPr>
        <p:spPr>
          <a:xfrm>
            <a:off x="1204287" y="4979194"/>
            <a:ext cx="251285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btn = document.getElementById('miBoton');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1536700"/>
            <a:ext cx="3496877" cy="475317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3363" y="1751112"/>
            <a:ext cx="2966467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Gestión de Eventos (</a:t>
            </a:r>
            <a:r>
              <a:rPr lang="en-US" sz="18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addEventListener</a:t>
            </a: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)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663363" y="2461419"/>
            <a:ext cx="2966467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Programa al elemento para que "escuche" y reaccione en tiempo real ante las acciones del usuario (como un clic, un movimiento del mouse o escribir en un teclado), ejecutando una función cuando ocurre.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4663363" y="4790976"/>
            <a:ext cx="2966467" cy="982861"/>
          </a:xfrm>
          <a:prstGeom prst="roundRect">
            <a:avLst>
              <a:gd name="adj" fmla="val 807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2" name="Text 8"/>
          <p:cNvSpPr/>
          <p:nvPr/>
        </p:nvSpPr>
        <p:spPr>
          <a:xfrm>
            <a:off x="4890171" y="4979988"/>
            <a:ext cx="251285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btn.addEventListener('click', () =&gt; { /* ... */ });</a:t>
            </a:r>
            <a:endParaRPr lang="en-US" sz="14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1536700"/>
            <a:ext cx="3496877" cy="475317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49247" y="1751112"/>
            <a:ext cx="2966467" cy="892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Modificación de la Interfaz (</a:t>
            </a:r>
            <a:r>
              <a:rPr lang="en-US" sz="18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textContent</a:t>
            </a: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/ Estilos)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8349247" y="2756694"/>
            <a:ext cx="2966467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vez capturado el elemento y detectado el evento, JavaScript altera los textos, clases o estilos en memoria, logrando que la página se actualice al instante sin necesidad de recargarla por completo.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8349247" y="5086251"/>
            <a:ext cx="2966467" cy="982861"/>
          </a:xfrm>
          <a:prstGeom prst="roundRect">
            <a:avLst>
              <a:gd name="adj" fmla="val 807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7" name="Text 12"/>
          <p:cNvSpPr/>
          <p:nvPr/>
        </p:nvSpPr>
        <p:spPr>
          <a:xfrm>
            <a:off x="8576056" y="5275263"/>
            <a:ext cx="251285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titulo.textContent = "¡Hola Mundo!";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9862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JavaScript en Acción </a:t>
            </a:r>
            <a:r>
              <a:rPr lang="en-US" sz="3700" dirty="0">
                <a:solidFill>
                  <a:srgbClr val="F7DF1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(Frontend)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667298"/>
            <a:ext cx="2009923" cy="124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14575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Redes Sociales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554438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Actualización instantánea de contenido sin recargar la página.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2667298"/>
            <a:ext cx="2009923" cy="12422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414575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Mapas Interactivos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554438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Renderizado de gráficos y rutas en tiempo real con alta fluidez.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2667298"/>
            <a:ext cx="2009923" cy="12422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4145756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Apps de Escritorio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4554438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Electron impulsa VS Code, Discord y Spotify con tecnología web.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73002"/>
            <a:ext cx="6903269" cy="39118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32251" y="1695351"/>
            <a:ext cx="1099515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  <p:txBody>
          <a:bodyPr/>
          <a:lstStyle/>
          <a:p>
            <a:endParaRPr lang="es-419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5656" y="1763316"/>
            <a:ext cx="151206" cy="15120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72464" y="1752005"/>
            <a:ext cx="125548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RUNTIME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8032251" y="2058095"/>
            <a:ext cx="350421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¿Qué es Node.js?</a:t>
            </a:r>
            <a:endParaRPr lang="en-US" sz="3700" dirty="0"/>
          </a:p>
        </p:txBody>
      </p:sp>
      <p:sp>
        <p:nvSpPr>
          <p:cNvPr id="7" name="Text 3"/>
          <p:cNvSpPr/>
          <p:nvPr/>
        </p:nvSpPr>
        <p:spPr>
          <a:xfrm>
            <a:off x="8032251" y="3428405"/>
            <a:ext cx="3504219" cy="1880592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Runtime de código abierto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que ejecuta JavaScript directamente en el servidor, fuera del navegador.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Extrae el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motor V8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Google Chrome para correr en el sistema operativo con alto rendimiento.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Arquitectura Interna de Node.js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3339306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Los tres pilares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21058" y="3541812"/>
            <a:ext cx="5315512" cy="389334"/>
          </a:xfrm>
          <a:prstGeom prst="rect">
            <a:avLst/>
          </a:prstGeom>
          <a:noFill/>
          <a:ln/>
        </p:spPr>
        <p:txBody>
          <a:bodyPr wrap="square" lIns="0" tIns="38985" rIns="0" bIns="0" rtlCol="0" anchor="t">
            <a:normAutofit/>
          </a:bodyPr>
          <a:lstStyle/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Motor V8:</a:t>
            </a: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Compila JavaScript a código de máquina nativo para máximo rendimiento.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Event Loop:</a:t>
            </a: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Gestiona miles de solicitudes con un hilo único y E/S no bloqueante.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npm:</a:t>
            </a: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El registro de paquetes más grande del mundo, con millones de librerías listas para usar.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0033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Hitos de Node.js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083148" y="2069009"/>
            <a:ext cx="25399" cy="3688556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4" name="Shape 2"/>
          <p:cNvSpPr/>
          <p:nvPr/>
        </p:nvSpPr>
        <p:spPr>
          <a:xfrm>
            <a:off x="5341605" y="2268934"/>
            <a:ext cx="567021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5" name="Shape 3"/>
          <p:cNvSpPr/>
          <p:nvPr/>
        </p:nvSpPr>
        <p:spPr>
          <a:xfrm>
            <a:off x="5883227" y="2069009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/>
          <p:nvPr/>
        </p:nvSpPr>
        <p:spPr>
          <a:xfrm>
            <a:off x="5954117" y="210443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61475" y="2133898"/>
            <a:ext cx="448933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2009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61475" y="2542580"/>
            <a:ext cx="448933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Ryan Dahl presenta Node.js para resolver el problema de las conexiones lentas y bloqueantes.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83069" y="3403005"/>
            <a:ext cx="567021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0" name="Shape 8"/>
          <p:cNvSpPr/>
          <p:nvPr/>
        </p:nvSpPr>
        <p:spPr>
          <a:xfrm>
            <a:off x="5883227" y="3203079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" name="Text 9"/>
          <p:cNvSpPr/>
          <p:nvPr/>
        </p:nvSpPr>
        <p:spPr>
          <a:xfrm>
            <a:off x="5954117" y="3238500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040882" y="3267968"/>
            <a:ext cx="448933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2010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7040882" y="3676650"/>
            <a:ext cx="448933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Lanzamiento de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npm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el gestor de paquetes que democratiza el uso de librerías compartidas.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341605" y="4380508"/>
            <a:ext cx="567021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5" name="Shape 13"/>
          <p:cNvSpPr/>
          <p:nvPr/>
        </p:nvSpPr>
        <p:spPr>
          <a:xfrm>
            <a:off x="5883227" y="4180582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Text 14"/>
          <p:cNvSpPr/>
          <p:nvPr/>
        </p:nvSpPr>
        <p:spPr>
          <a:xfrm>
            <a:off x="5954117" y="4216003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1475" y="4245471"/>
            <a:ext cx="448933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Hoy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61475" y="4654153"/>
            <a:ext cx="448933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Estándar industrial para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microservicios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y APIs de alta concurrencia en producción global.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594048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Ventajas Clave de Node.js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2468166"/>
            <a:ext cx="6296860" cy="2795786"/>
          </a:xfrm>
          <a:prstGeom prst="roundRect">
            <a:avLst>
              <a:gd name="adj" fmla="val 284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Shape 2"/>
          <p:cNvSpPr/>
          <p:nvPr/>
        </p:nvSpPr>
        <p:spPr>
          <a:xfrm>
            <a:off x="5239710" y="2474516"/>
            <a:ext cx="6284160" cy="1391543"/>
          </a:xfrm>
          <a:custGeom>
            <a:avLst/>
            <a:gdLst/>
            <a:ahLst/>
            <a:cxnLst/>
            <a:rect l="l" t="t" r="r" b="b"/>
            <a:pathLst>
              <a:path w="6284160" h="1391543">
                <a:moveTo>
                  <a:pt x="66156" y="0"/>
                </a:moveTo>
                <a:lnTo>
                  <a:pt x="6218004" y="0"/>
                </a:lnTo>
                <a:arcTo wR="66156" hR="66158" stAng="16200000" swAng="5400000"/>
                <a:lnTo>
                  <a:pt x="6284160" y="1391543"/>
                </a:lnTo>
                <a:lnTo>
                  <a:pt x="0" y="1391543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E1E1EA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6" name="Text 3"/>
          <p:cNvSpPr/>
          <p:nvPr/>
        </p:nvSpPr>
        <p:spPr>
          <a:xfrm>
            <a:off x="5428717" y="2663527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Full-Stack Unificado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8717" y="3072209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mismo lenguaje, sintaxis y tipos en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frontend y backend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Un equipo, una base de código, cero cambios de contexto.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239710" y="3866059"/>
            <a:ext cx="6284160" cy="1391543"/>
          </a:xfrm>
          <a:custGeom>
            <a:avLst/>
            <a:gdLst/>
            <a:ahLst/>
            <a:cxnLst/>
            <a:rect l="l" t="t" r="r" b="b"/>
            <a:pathLst>
              <a:path w="6284160" h="1391543">
                <a:moveTo>
                  <a:pt x="0" y="0"/>
                </a:moveTo>
                <a:lnTo>
                  <a:pt x="6284160" y="0"/>
                </a:lnTo>
                <a:lnTo>
                  <a:pt x="6284160" y="1325385"/>
                </a:lnTo>
                <a:arcTo wR="66156" hR="66158" stAng="0" swAng="5400000"/>
                <a:lnTo>
                  <a:pt x="66156" y="1391543"/>
                </a:lnTo>
                <a:arcTo wR="66156" hR="66158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9" name="Shape 6"/>
          <p:cNvSpPr/>
          <p:nvPr/>
        </p:nvSpPr>
        <p:spPr>
          <a:xfrm>
            <a:off x="5239710" y="3866059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s-419"/>
          </a:p>
        </p:txBody>
      </p:sp>
      <p:sp>
        <p:nvSpPr>
          <p:cNvPr id="10" name="Text 7"/>
          <p:cNvSpPr/>
          <p:nvPr/>
        </p:nvSpPr>
        <p:spPr>
          <a:xfrm>
            <a:off x="5428717" y="4055070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Alto Rendimiento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5428717" y="4463752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Maneja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miles de conexiones concurrentes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 un consumo de RAM notablemente bajo gracias al modelo non-blocking.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8427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Node.js en la </a:t>
            </a:r>
            <a:r>
              <a:rPr lang="en-US" sz="3700" dirty="0">
                <a:solidFill>
                  <a:srgbClr val="68A06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Industria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952948"/>
            <a:ext cx="762378" cy="7623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0087" y="2952948"/>
            <a:ext cx="246681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Netflix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660087" y="3361630"/>
            <a:ext cx="246681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Gestión de catálogos masivos y optimización del rendimiento de reproducción para millones de usuarios simultáneos.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2952948"/>
            <a:ext cx="762378" cy="76239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1746" y="2952948"/>
            <a:ext cx="246681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PayPal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361746" y="3361630"/>
            <a:ext cx="246681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Procesamiento rápido y seguro de transacciones financieras a escala global con latencia mínima.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2952948"/>
            <a:ext cx="762378" cy="76239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63406" y="2952948"/>
            <a:ext cx="246681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Uber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063406" y="3361630"/>
            <a:ext cx="246681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Conexión en tiempo real de millones de ubicaciones de conductores y pasajeros en todo el mundo.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824</Words>
  <Application>Microsoft Office PowerPoint</Application>
  <PresentationFormat>Widescreen</PresentationFormat>
  <Paragraphs>103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Roboto Bold</vt:lpstr>
      <vt:lpstr>Roboto</vt:lpstr>
      <vt:lpstr>Raleway</vt:lpstr>
      <vt:lpstr>Consolas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Sebastián Lugo</cp:lastModifiedBy>
  <cp:revision>1</cp:revision>
  <dcterms:created xsi:type="dcterms:W3CDTF">2026-08-27T21:50:17Z</dcterms:created>
  <dcterms:modified xsi:type="dcterms:W3CDTF">2026-08-27T21:51:00Z</dcterms:modified>
</cp:coreProperties>
</file>